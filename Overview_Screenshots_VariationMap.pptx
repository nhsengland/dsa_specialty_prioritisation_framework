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UCKHAM, Helen (NHS ENGLAND)" userId="a994bff5-1804-423e-aa7e-4861deb594e4" providerId="ADAL" clId="{205D00E6-FE2D-4F32-9FEE-BFFA17182D8E}"/>
    <pc:docChg chg="custSel modSld">
      <pc:chgData name="BAUCKHAM, Helen (NHS ENGLAND)" userId="a994bff5-1804-423e-aa7e-4861deb594e4" providerId="ADAL" clId="{205D00E6-FE2D-4F32-9FEE-BFFA17182D8E}" dt="2026-10-09T11:34:57.168" v="128" actId="14100"/>
      <pc:docMkLst>
        <pc:docMk/>
      </pc:docMkLst>
      <pc:sldChg chg="modSp mod">
        <pc:chgData name="BAUCKHAM, Helen (NHS ENGLAND)" userId="a994bff5-1804-423e-aa7e-4861deb594e4" providerId="ADAL" clId="{205D00E6-FE2D-4F32-9FEE-BFFA17182D8E}" dt="2026-10-09T11:34:57.168" v="128" actId="14100"/>
        <pc:sldMkLst>
          <pc:docMk/>
          <pc:sldMk cId="1003926957" sldId="256"/>
        </pc:sldMkLst>
        <pc:spChg chg="mod">
          <ac:chgData name="BAUCKHAM, Helen (NHS ENGLAND)" userId="a994bff5-1804-423e-aa7e-4861deb594e4" providerId="ADAL" clId="{205D00E6-FE2D-4F32-9FEE-BFFA17182D8E}" dt="2026-10-09T11:30:53.117" v="72" actId="20577"/>
          <ac:spMkLst>
            <pc:docMk/>
            <pc:sldMk cId="1003926957" sldId="256"/>
            <ac:spMk id="24" creationId="{E902C4F4-4719-8541-6530-3712748377E7}"/>
          </ac:spMkLst>
        </pc:spChg>
        <pc:spChg chg="mod">
          <ac:chgData name="BAUCKHAM, Helen (NHS ENGLAND)" userId="a994bff5-1804-423e-aa7e-4861deb594e4" providerId="ADAL" clId="{205D00E6-FE2D-4F32-9FEE-BFFA17182D8E}" dt="2026-10-09T11:34:49.944" v="125" actId="14100"/>
          <ac:spMkLst>
            <pc:docMk/>
            <pc:sldMk cId="1003926957" sldId="256"/>
            <ac:spMk id="26" creationId="{23C04590-9C9E-4598-C604-8FD2FF669B27}"/>
          </ac:spMkLst>
        </pc:spChg>
        <pc:spChg chg="mod">
          <ac:chgData name="BAUCKHAM, Helen (NHS ENGLAND)" userId="a994bff5-1804-423e-aa7e-4861deb594e4" providerId="ADAL" clId="{205D00E6-FE2D-4F32-9FEE-BFFA17182D8E}" dt="2026-10-09T11:31:25.389" v="106" actId="313"/>
          <ac:spMkLst>
            <pc:docMk/>
            <pc:sldMk cId="1003926957" sldId="256"/>
            <ac:spMk id="40" creationId="{CC8F1959-4255-A2C8-A95D-187D01360BFE}"/>
          </ac:spMkLst>
        </pc:spChg>
        <pc:picChg chg="mod">
          <ac:chgData name="BAUCKHAM, Helen (NHS ENGLAND)" userId="a994bff5-1804-423e-aa7e-4861deb594e4" providerId="ADAL" clId="{205D00E6-FE2D-4F32-9FEE-BFFA17182D8E}" dt="2026-10-09T11:34:57.168" v="128" actId="14100"/>
          <ac:picMkLst>
            <pc:docMk/>
            <pc:sldMk cId="1003926957" sldId="256"/>
            <ac:picMk id="30" creationId="{05D596A9-E7C7-820E-AFD2-623A91AF081E}"/>
          </ac:picMkLst>
        </pc:picChg>
      </pc:sldChg>
      <pc:sldChg chg="addSp delSp modSp mod">
        <pc:chgData name="BAUCKHAM, Helen (NHS ENGLAND)" userId="a994bff5-1804-423e-aa7e-4861deb594e4" providerId="ADAL" clId="{205D00E6-FE2D-4F32-9FEE-BFFA17182D8E}" dt="2026-10-09T11:32:31.658" v="123" actId="14100"/>
        <pc:sldMkLst>
          <pc:docMk/>
          <pc:sldMk cId="1867643850" sldId="259"/>
        </pc:sldMkLst>
        <pc:spChg chg="del">
          <ac:chgData name="BAUCKHAM, Helen (NHS ENGLAND)" userId="a994bff5-1804-423e-aa7e-4861deb594e4" providerId="ADAL" clId="{205D00E6-FE2D-4F32-9FEE-BFFA17182D8E}" dt="2026-10-09T11:31:29.250" v="107" actId="478"/>
          <ac:spMkLst>
            <pc:docMk/>
            <pc:sldMk cId="1867643850" sldId="259"/>
            <ac:spMk id="15" creationId="{6F6C8E6F-9D53-6F5D-D51A-D98417B3F232}"/>
          </ac:spMkLst>
        </pc:spChg>
        <pc:spChg chg="mod">
          <ac:chgData name="BAUCKHAM, Helen (NHS ENGLAND)" userId="a994bff5-1804-423e-aa7e-4861deb594e4" providerId="ADAL" clId="{205D00E6-FE2D-4F32-9FEE-BFFA17182D8E}" dt="2026-10-09T11:32:12.903" v="118" actId="20577"/>
          <ac:spMkLst>
            <pc:docMk/>
            <pc:sldMk cId="1867643850" sldId="259"/>
            <ac:spMk id="16" creationId="{F67BD7AD-B089-586E-5D39-F5DD1199F47B}"/>
          </ac:spMkLst>
        </pc:spChg>
        <pc:spChg chg="del">
          <ac:chgData name="BAUCKHAM, Helen (NHS ENGLAND)" userId="a994bff5-1804-423e-aa7e-4861deb594e4" providerId="ADAL" clId="{205D00E6-FE2D-4F32-9FEE-BFFA17182D8E}" dt="2026-10-09T11:31:45.838" v="109" actId="478"/>
          <ac:spMkLst>
            <pc:docMk/>
            <pc:sldMk cId="1867643850" sldId="259"/>
            <ac:spMk id="18" creationId="{F37B67E1-323A-1008-2CB2-4C8A3E9798E9}"/>
          </ac:spMkLst>
        </pc:spChg>
        <pc:spChg chg="add">
          <ac:chgData name="BAUCKHAM, Helen (NHS ENGLAND)" userId="a994bff5-1804-423e-aa7e-4861deb594e4" providerId="ADAL" clId="{205D00E6-FE2D-4F32-9FEE-BFFA17182D8E}" dt="2026-10-09T11:31:29.591" v="108" actId="22"/>
          <ac:spMkLst>
            <pc:docMk/>
            <pc:sldMk cId="1867643850" sldId="259"/>
            <ac:spMk id="22" creationId="{1C1F0E35-3E4A-C16D-45B6-4A03D13988BC}"/>
          </ac:spMkLst>
        </pc:spChg>
        <pc:spChg chg="add mod">
          <ac:chgData name="BAUCKHAM, Helen (NHS ENGLAND)" userId="a994bff5-1804-423e-aa7e-4861deb594e4" providerId="ADAL" clId="{205D00E6-FE2D-4F32-9FEE-BFFA17182D8E}" dt="2026-10-09T11:32:31.658" v="123" actId="14100"/>
          <ac:spMkLst>
            <pc:docMk/>
            <pc:sldMk cId="1867643850" sldId="259"/>
            <ac:spMk id="24" creationId="{B37CF818-8B69-C601-8C01-AA1B9D8CCD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F35D-41F9-E912-3319-7C795F5A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5D350-82CF-B914-C68F-F462C24BB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E809A-110C-E4DC-6C30-9F1A0F5B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A99C6-9C7F-73A8-0034-354E6F28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FFE84-2645-7C4F-80F9-6FA0250D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06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B348-04D8-FA75-05AC-6DC9CE6F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DD3B1-78B7-DA19-D2EF-FBA7D6C81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141A8-21EA-E32E-1D19-763107E8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F98B2-73DF-B3D6-C995-8845018C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66F26-55A7-E0F6-3A6C-7636323B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55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FDD9-5BF5-D66B-CE53-DEA974BF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12911-B1F5-750A-D3A8-48088AC1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EE577-3D0C-4938-D30D-DF4F226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93C01-391B-26DB-8A22-6E77A5E2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547D5-3447-810C-22AD-9468F041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43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6AA6-6CA0-2DB7-8587-A7EF216B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45B7-6777-794B-5982-075AD54B9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99105-E105-35C9-B711-CF69C4E0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13125-FBC6-3F30-970D-598C821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4655C-4512-07A1-A777-0992FFD0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053AC-A994-2267-0385-AF9B9AC3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0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E769-C67E-BA4B-3BFE-2C8C3C85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AD753-C704-0576-2CF5-7C628CE2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C4B82-1942-692F-DD58-A422342BE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36055-C964-540D-E6D1-76B0975DF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C7A59-E1B3-2414-73A5-4089017EC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7091C-84E7-6971-EFE4-6F25CDBA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EF4AD-C272-C97B-1A22-AE422B06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0FA67-9907-6B48-FC7C-92497B1B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6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F2E5-4C6D-DD09-6A37-7D7BCB76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E55AB-DFCC-80E4-93FA-09F50208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A4381-DC9E-30B8-DB50-BC52EA7E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8BBC7-924D-056B-C3C3-33493998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7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65A19-7121-CD38-F58F-883F2C90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E2F2A-E1C8-7D24-0BDA-FB468D67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18AF4-D83A-585E-4948-D7FB6B39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67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E5BD-BF0C-369D-2F2A-F5211B3A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1DB7-3A12-137B-79EB-29417DEE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47BFD-56D0-1852-B670-A3223E44A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0B53C-FA0E-026F-81BE-80418071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63567-FE51-E530-2179-8FE3AA4A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50335-7C35-5398-C3E9-227F25BB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24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AC17-801E-6B03-099E-F9FB97F3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8BCCA-8F6F-9D40-E3EF-81FC1B419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FEB24-E796-A32A-BD44-9CDA106D2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28B11-81F7-E015-FC09-C3019A42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2C5DB-EE8A-0CAA-AE81-86E200C6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A2F03-50EA-AE66-0E94-D598A95F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0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D019-04F5-AC3A-E73A-95C43B7B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36269-245D-8BEB-5296-E3801ED38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03CC-D2F6-8A9E-3A34-77706F35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23F40-4629-5BEC-CF26-0D676E4A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B2DD-900C-7A8A-1588-17F2CEA5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3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B5E2A-FDBF-E503-272A-5AB183A30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843E9-02EC-878C-4933-9AFE27C04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F3408-ACBD-83C7-CC96-BA8A85B5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35878-000D-E6F1-E930-A75B355F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442B6-E61D-1546-B95F-FD523626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62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90754-250C-7215-66E3-FCE9ADB6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C64D3-CAC6-4C91-D02B-4F1297ED0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BE40-6249-6ACE-18DE-78515C574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36F9E-8B38-4A81-94BE-2F7BFB1AD0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C5B43-388A-46BE-5214-BF3673E9B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8E9D7-1B91-830F-96C3-E374B3283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6D18-3D35-4849-89C7-854D5A1C26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29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Right 17">
            <a:extLst>
              <a:ext uri="{FF2B5EF4-FFF2-40B4-BE49-F238E27FC236}">
                <a16:creationId xmlns:a16="http://schemas.microsoft.com/office/drawing/2014/main" id="{5687C9FF-C39B-5BF2-33FA-B0F1275DCCCC}"/>
              </a:ext>
            </a:extLst>
          </p:cNvPr>
          <p:cNvSpPr/>
          <p:nvPr/>
        </p:nvSpPr>
        <p:spPr>
          <a:xfrm>
            <a:off x="4740608" y="3428998"/>
            <a:ext cx="1197911" cy="3810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3C7CB-8DF6-F30B-0031-5A4708B66CA7}"/>
              </a:ext>
            </a:extLst>
          </p:cNvPr>
          <p:cNvSpPr txBox="1"/>
          <p:nvPr/>
        </p:nvSpPr>
        <p:spPr>
          <a:xfrm>
            <a:off x="101600" y="101367"/>
            <a:ext cx="1103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a national specialty signal to regional variation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015FEA-5B92-CCDA-CE61-B6670DAFD79F}"/>
              </a:ext>
            </a:extLst>
          </p:cNvPr>
          <p:cNvSpPr txBox="1"/>
          <p:nvPr/>
        </p:nvSpPr>
        <p:spPr>
          <a:xfrm>
            <a:off x="1092388" y="1016166"/>
            <a:ext cx="3104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National specialty overview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02C4F4-4719-8541-6530-3712748377E7}"/>
              </a:ext>
            </a:extLst>
          </p:cNvPr>
          <p:cNvSpPr txBox="1"/>
          <p:nvPr/>
        </p:nvSpPr>
        <p:spPr>
          <a:xfrm>
            <a:off x="291192" y="5603155"/>
            <a:ext cx="49850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/>
              <a:t>Four matched indicators (RTT, length of stay etc) were combined into a comparative specialty-level signal across 4 test specialties. In this initial test, Trauma &amp; Orthopaedics showed the strongest national signal across the four specialties included.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C04590-9C9E-4598-C604-8FD2FF669B27}"/>
              </a:ext>
            </a:extLst>
          </p:cNvPr>
          <p:cNvSpPr/>
          <p:nvPr/>
        </p:nvSpPr>
        <p:spPr>
          <a:xfrm>
            <a:off x="6253483" y="1028700"/>
            <a:ext cx="5836917" cy="516409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30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rPr>
              <a:t>Regional view: </a:t>
            </a:r>
            <a:r>
              <a:rPr lang="en-GB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rPr>
              <a:t>leading specialty signal by ICB</a:t>
            </a: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endParaRPr lang="en-GB" sz="1400" i="1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GB" sz="1200" i="1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GB" sz="1200" i="1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GB" sz="1200" i="1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r>
              <a:rPr lang="en-GB" sz="1200" b="1" i="1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rPr>
              <a:t>Interpret cautiously: </a:t>
            </a:r>
            <a:r>
              <a:rPr lang="en-GB" sz="1200" i="1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rPr>
              <a:t>This is a comparative screening output, not a definitive measure of unmet need. In some ICBs, the difference between the first and second specialty may be small – currently working on Power BI to add this in when hovering over an ICB.</a:t>
            </a:r>
            <a:endParaRPr lang="en-GB" sz="1100" i="1" dirty="0">
              <a:solidFill>
                <a:schemeClr val="tx1"/>
              </a:solidFill>
              <a:latin typeface="+mj-lt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E6C350-A0A4-FC00-F61A-13E6CAD3912C}"/>
              </a:ext>
            </a:extLst>
          </p:cNvPr>
          <p:cNvSpPr txBox="1"/>
          <p:nvPr/>
        </p:nvSpPr>
        <p:spPr>
          <a:xfrm>
            <a:off x="10373426" y="2978058"/>
            <a:ext cx="1375138" cy="212365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 fontAlgn="t">
              <a:lnSpc>
                <a:spcPct val="100000"/>
              </a:lnSpc>
              <a:buNone/>
            </a:pPr>
            <a:r>
              <a:rPr lang="en-GB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ICB is coloured by the highest-scoring specialty among the four tested. The variation in colours shows that local pressure profiles may differ from the national ordering.</a:t>
            </a:r>
            <a:endParaRPr lang="en-GB" sz="120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5D596A9-E7C7-820E-AFD2-623A91AF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005" y="1483865"/>
            <a:ext cx="3444379" cy="40057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295B67-14FC-9D89-A2FD-1CEEC36D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27" y="1864441"/>
            <a:ext cx="1529007" cy="70227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137E23C-D150-BDEC-8402-726AAD5C9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34" y="1496573"/>
            <a:ext cx="3692184" cy="404694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CA738C6-2AA7-38F0-BB59-604936C8778B}"/>
              </a:ext>
            </a:extLst>
          </p:cNvPr>
          <p:cNvSpPr txBox="1"/>
          <p:nvPr/>
        </p:nvSpPr>
        <p:spPr>
          <a:xfrm>
            <a:off x="157483" y="522613"/>
            <a:ext cx="121011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i="1" dirty="0"/>
              <a:t>Early proof of concept testing whether routinely available NHS system data can provide an additional evidence layer for identifying potential areas of unmet need.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8F1959-4255-A2C8-A95D-187D01360BFE}"/>
              </a:ext>
            </a:extLst>
          </p:cNvPr>
          <p:cNvSpPr txBox="1"/>
          <p:nvPr/>
        </p:nvSpPr>
        <p:spPr>
          <a:xfrm>
            <a:off x="0" y="6444763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i="1" dirty="0">
                <a:solidFill>
                  <a:srgbClr val="C00000"/>
                </a:solidFill>
              </a:rPr>
              <a:t>Early proof of concept: </a:t>
            </a:r>
            <a:r>
              <a:rPr lang="en-GB" sz="1100" i="1" dirty="0">
                <a:solidFill>
                  <a:srgbClr val="C00000"/>
                </a:solidFill>
              </a:rPr>
              <a:t>These outputs provide comparative screening signals across four specialties and four matched indicators. Further methodological QA, clinical validation and expansion to other indicators/specialties would be required before informing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00392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F6C763-E111-E224-38A6-945E9674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0" y="643466"/>
            <a:ext cx="5356796" cy="2785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9659E7-44B7-2DBE-1D10-6FA8A67E6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0" y="3527628"/>
            <a:ext cx="5408181" cy="294700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515DE8-F06F-0B6F-6C08-207C942F1DBB}"/>
              </a:ext>
            </a:extLst>
          </p:cNvPr>
          <p:cNvCxnSpPr>
            <a:cxnSpLocks/>
          </p:cNvCxnSpPr>
          <p:nvPr/>
        </p:nvCxnSpPr>
        <p:spPr>
          <a:xfrm flipH="1">
            <a:off x="3686543" y="5555998"/>
            <a:ext cx="288557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D147D1-1FA5-D379-EA70-3711977F9FB4}"/>
              </a:ext>
            </a:extLst>
          </p:cNvPr>
          <p:cNvCxnSpPr>
            <a:cxnSpLocks/>
          </p:cNvCxnSpPr>
          <p:nvPr/>
        </p:nvCxnSpPr>
        <p:spPr>
          <a:xfrm flipH="1">
            <a:off x="3494467" y="2699197"/>
            <a:ext cx="355600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DDA572-76AB-E64D-A179-21582A90ED56}"/>
              </a:ext>
            </a:extLst>
          </p:cNvPr>
          <p:cNvSpPr txBox="1"/>
          <p:nvPr/>
        </p:nvSpPr>
        <p:spPr>
          <a:xfrm>
            <a:off x="101600" y="101367"/>
            <a:ext cx="1103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Exploring indicator-level geographic variation – 2 examples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3A88D-A27A-0EF2-750A-F910F43105E2}"/>
              </a:ext>
            </a:extLst>
          </p:cNvPr>
          <p:cNvSpPr txBox="1"/>
          <p:nvPr/>
        </p:nvSpPr>
        <p:spPr>
          <a:xfrm>
            <a:off x="6288376" y="2274838"/>
            <a:ext cx="568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What the user can explore: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Select a specialty and indicator.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Compare relative pressure across ICBs.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Hover over an ICB to view the underlying value, national percentile and contextual variables.</a:t>
            </a:r>
          </a:p>
          <a:p>
            <a:endParaRPr lang="en-GB" sz="1600" dirty="0"/>
          </a:p>
          <a:p>
            <a:r>
              <a:rPr lang="en-GB" sz="1600" b="1" dirty="0"/>
              <a:t>What the shading means: </a:t>
            </a:r>
            <a:r>
              <a:rPr lang="en-GB" sz="1600" dirty="0"/>
              <a:t>Darker shading indicates relatively higher pressure for the selected specialty and indicator compared with other ICBs.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8B9DD-3C16-DDCA-93D8-ABFC6FD828A0}"/>
              </a:ext>
            </a:extLst>
          </p:cNvPr>
          <p:cNvSpPr txBox="1"/>
          <p:nvPr/>
        </p:nvSpPr>
        <p:spPr>
          <a:xfrm>
            <a:off x="6249924" y="5056427"/>
            <a:ext cx="5476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u="sng" dirty="0"/>
              <a:t>Interpret cautiously:</a:t>
            </a:r>
            <a:r>
              <a:rPr lang="en-GB" sz="1600" dirty="0"/>
              <a:t> The dashboard identifies relative variation but does not explain its causes or establish that a particular research or innovation intervention is appropriate.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BD7AD-B089-586E-5D39-F5DD1199F47B}"/>
              </a:ext>
            </a:extLst>
          </p:cNvPr>
          <p:cNvSpPr/>
          <p:nvPr/>
        </p:nvSpPr>
        <p:spPr>
          <a:xfrm>
            <a:off x="771525" y="2095172"/>
            <a:ext cx="1596771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Example 1: Cardiovascular | RTT &gt;18 weeks (Access Pressure)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8A42A7-465C-57ED-073E-D696BC5E74A7}"/>
              </a:ext>
            </a:extLst>
          </p:cNvPr>
          <p:cNvSpPr txBox="1"/>
          <p:nvPr/>
        </p:nvSpPr>
        <p:spPr>
          <a:xfrm>
            <a:off x="6249924" y="923124"/>
            <a:ext cx="5808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The interactive dashboard allows users to move from the combined specialty signal to the individual indicators contributing to the analysis.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F0E35-3E4A-C16D-45B6-4A03D13988BC}"/>
              </a:ext>
            </a:extLst>
          </p:cNvPr>
          <p:cNvSpPr txBox="1"/>
          <p:nvPr/>
        </p:nvSpPr>
        <p:spPr>
          <a:xfrm>
            <a:off x="0" y="6444763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i="1" dirty="0">
                <a:solidFill>
                  <a:srgbClr val="C00000"/>
                </a:solidFill>
              </a:rPr>
              <a:t>Early proof of concept: </a:t>
            </a:r>
            <a:r>
              <a:rPr lang="en-GB" sz="1100" i="1" dirty="0">
                <a:solidFill>
                  <a:srgbClr val="C00000"/>
                </a:solidFill>
              </a:rPr>
              <a:t>These outputs provide comparative screening signals across four specialties and four matched indicators. Further methodological QA, clinical validation and expansion to other indicators/specialties would be required before informing decisions.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7CF818-8B69-C601-8C01-AA1B9D8CCD80}"/>
              </a:ext>
            </a:extLst>
          </p:cNvPr>
          <p:cNvSpPr/>
          <p:nvPr/>
        </p:nvSpPr>
        <p:spPr>
          <a:xfrm>
            <a:off x="771525" y="5123482"/>
            <a:ext cx="1676019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Example 2: Respiratory | Elective LOS &gt;6 days (Hospital Burden)</a:t>
            </a:r>
          </a:p>
        </p:txBody>
      </p:sp>
    </p:spTree>
    <p:extLst>
      <p:ext uri="{BB962C8B-B14F-4D97-AF65-F5344CB8AC3E}">
        <p14:creationId xmlns:p14="http://schemas.microsoft.com/office/powerpoint/2010/main" val="1867643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379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</vt:vector>
  </TitlesOfParts>
  <Company>NHS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BAUCKHAM, Helen (NHS ENGLAND)</dc:creator>
  <cp:lastModifiedBy>BAUCKHAM, Helen (NHS ENGLAND)</cp:lastModifiedBy>
  <cp:revision>1</cp:revision>
  <dcterms:created xsi:type="dcterms:W3CDTF">2026-10-09T10:50:31Z</dcterms:created>
  <dcterms:modified xsi:type="dcterms:W3CDTF">2026-10-09T11:35:05Z</dcterms:modified>
</cp:coreProperties>
</file>